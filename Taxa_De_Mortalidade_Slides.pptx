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351" r:id="rId4"/>
    <p:sldId id="352" r:id="rId5"/>
    <p:sldId id="356" r:id="rId6"/>
    <p:sldId id="348" r:id="rId7"/>
    <p:sldId id="357" r:id="rId8"/>
    <p:sldId id="358" r:id="rId9"/>
    <p:sldId id="355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iZINGxohdSI15Xcu5c/inuvMYF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B242C-9A92-4277-842D-B6B3DD457063}">
  <a:tblStyle styleId="{A82B242C-9A92-4277-842D-B6B3DD457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76DA97-062D-4256-B02D-CCDC2C70CBB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0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08" Type="http://schemas.openxmlformats.org/officeDocument/2006/relationships/viewProps" Target="viewProps.xml"/><Relationship Id="rId2" Type="http://schemas.openxmlformats.org/officeDocument/2006/relationships/slide" Target="slides/slide1.xml"/><Relationship Id="rId10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06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11A4D73-89D4-2EFE-FB51-87442DB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E421ACD-6D3E-64B3-983E-451A65B84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B2E285F-6061-5901-988C-96E2E22EE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92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718EAB-94C9-F5BF-B467-0934FC42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3E85D5F-A6D6-938B-8163-25F84A2C0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E8FEA9B-4E20-B35F-5733-0CB203D1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26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17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553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592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2D016DF-B1DD-63BB-B53F-2D181659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80EDC5D7-1584-2465-59E2-C79724BF5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37D30-44F9-391E-BCA9-08B8E5C2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938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981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  <a:defRPr sz="60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4"/>
          <p:cNvSpPr txBox="1"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3" name="Google Shape;2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3900" y="118140"/>
            <a:ext cx="1961949" cy="163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4" descr="Resultado de imagem para python wor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98545" y="0"/>
            <a:ext cx="1893455" cy="189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title"/>
          </p:nvPr>
        </p:nvSpPr>
        <p:spPr>
          <a:xfrm>
            <a:off x="465333" y="136525"/>
            <a:ext cx="10515600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5"/>
          <p:cNvSpPr txBox="1">
            <a:spLocks noGrp="1"/>
          </p:cNvSpPr>
          <p:nvPr>
            <p:ph type="body" idx="1"/>
          </p:nvPr>
        </p:nvSpPr>
        <p:spPr>
          <a:xfrm>
            <a:off x="465333" y="1411550"/>
            <a:ext cx="10888467" cy="47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5"/>
          <p:cNvSpPr txBox="1">
            <a:spLocks noGrp="1"/>
          </p:cNvSpPr>
          <p:nvPr>
            <p:ph type="dt" idx="10"/>
          </p:nvPr>
        </p:nvSpPr>
        <p:spPr>
          <a:xfrm>
            <a:off x="60122" y="6434415"/>
            <a:ext cx="10083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7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body" idx="1"/>
          </p:nvPr>
        </p:nvSpPr>
        <p:spPr>
          <a:xfrm rot="5400000">
            <a:off x="3720692" y="-1625561"/>
            <a:ext cx="4534594" cy="1107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2761" y="136526"/>
            <a:ext cx="10901039" cy="123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2761" y="1642369"/>
            <a:ext cx="11070455" cy="453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rio/documents/874f371df3084631b41dbb9c9d31ba50/abou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816963" y="1634127"/>
            <a:ext cx="855807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</a:pPr>
            <a:br>
              <a:rPr lang="pt-BR" dirty="0"/>
            </a:br>
            <a:br>
              <a:rPr lang="pt-BR" dirty="0"/>
            </a:br>
            <a:r>
              <a:rPr lang="pt-BR" dirty="0"/>
              <a:t>&lt;Análise de Dados em Big Data sobre a Taxa de Mortalidade no Trânsito no Munícipio do Rio de Janeiro entre 2000 – 2022&gt;</a:t>
            </a:r>
            <a:endParaRPr dirty="0"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606427" y="4234701"/>
            <a:ext cx="9419208" cy="98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pt-BR" dirty="0"/>
              <a:t>Trabalho Extensionista de Tópicos de Big Data 2025.2</a:t>
            </a:r>
            <a:endParaRPr dirty="0"/>
          </a:p>
        </p:txBody>
      </p:sp>
      <p:sp>
        <p:nvSpPr>
          <p:cNvPr id="4" name="Google Shape;22;p94">
            <a:extLst>
              <a:ext uri="{FF2B5EF4-FFF2-40B4-BE49-F238E27FC236}">
                <a16:creationId xmlns:a16="http://schemas.microsoft.com/office/drawing/2014/main" id="{B9DD900B-3010-4358-BEF8-7D5FA7B62146}"/>
              </a:ext>
            </a:extLst>
          </p:cNvPr>
          <p:cNvSpPr/>
          <p:nvPr/>
        </p:nvSpPr>
        <p:spPr>
          <a:xfrm>
            <a:off x="2684584" y="5642371"/>
            <a:ext cx="682283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4AB0A3"/>
                </a:solidFill>
                <a:latin typeface="Calibri"/>
                <a:cs typeface="Calibri"/>
                <a:sym typeface="Calibri"/>
              </a:rPr>
              <a:t>Hiago Gonçalves de Souza 202303300743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Objetivo Geral</a:t>
            </a:r>
            <a:endParaRPr dirty="0"/>
          </a:p>
        </p:txBody>
      </p:sp>
      <p:sp>
        <p:nvSpPr>
          <p:cNvPr id="106" name="Google Shape;10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50793" y="2439265"/>
            <a:ext cx="11744561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3600" b="1" dirty="0">
                <a:solidFill>
                  <a:schemeClr val="dk1"/>
                </a:solidFill>
                <a:latin typeface="Calibri"/>
                <a:cs typeface="Calibri"/>
              </a:rPr>
              <a:t>O objetivo desse trabalho de extensão é apresentar uma análise de dados Big Data sobre a Taxa de Mortalidade no Trânsito no Munícipio do Rio de Janeiro entre 2000 - 2022.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14A2E56-5448-551C-207C-34ABE589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F045429-AA6B-CB55-C62E-4C159B34C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Base de Dados Usada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7FF3AFA-5B93-9EE5-AE87-0DDE8400D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B3F625B-7B1A-9191-C7A6-844EF37F6F73}"/>
              </a:ext>
            </a:extLst>
          </p:cNvPr>
          <p:cNvSpPr txBox="1"/>
          <p:nvPr/>
        </p:nvSpPr>
        <p:spPr>
          <a:xfrm>
            <a:off x="250793" y="1243510"/>
            <a:ext cx="1174456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base de dados analisada foi a base sobre a </a:t>
            </a:r>
            <a:r>
              <a:rPr lang="pt-BR" sz="3600" b="1" dirty="0">
                <a:solidFill>
                  <a:schemeClr val="dk1"/>
                </a:solidFill>
                <a:latin typeface="Calibri"/>
                <a:cs typeface="Calibri"/>
              </a:rPr>
              <a:t>Taxa de Mortalidade no Trânsito no Munícipio do Rio de Janeiro entre 2000 – 2022, localizada no site Data Rio </a:t>
            </a:r>
            <a:r>
              <a:rPr lang="pt-BR" sz="3600" b="1" dirty="0">
                <a:solidFill>
                  <a:schemeClr val="dk1"/>
                </a:solidFill>
                <a:latin typeface="Calibri"/>
                <a:cs typeface="Calibri"/>
                <a:hlinkClick r:id="rId3"/>
              </a:rPr>
              <a:t>(Link da base de dados utilizada)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02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51D81CB-11E2-C006-D516-22B1820D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240E3F4-9A3B-BB13-6387-B806A9BF2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Tecnologia Usadas no desenvolvimento</a:t>
            </a:r>
            <a:endParaRPr dirty="0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C120D90-4761-1D4A-7809-00D0CE81D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391DC9F7-289C-4215-4A2D-6B415E7C2377}"/>
              </a:ext>
            </a:extLst>
          </p:cNvPr>
          <p:cNvSpPr txBox="1"/>
          <p:nvPr/>
        </p:nvSpPr>
        <p:spPr>
          <a:xfrm>
            <a:off x="250793" y="1243510"/>
            <a:ext cx="11744561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6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3.8+</a:t>
            </a:r>
            <a:endParaRPr lang="pt-BR" sz="3600" b="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6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manipulação e limpeza de dados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Matplotlib &amp; Seaborn</a:t>
            </a: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visualização gráfica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Scikit-learn</a:t>
            </a: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regressão linear e métricas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NumPy</a:t>
            </a: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operações numéricas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Inteligências Artificiais</a:t>
            </a: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ChatGPT e DeepSeek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Plataformas de Desenvolvimento – </a:t>
            </a:r>
            <a:r>
              <a:rPr lang="pt-BR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Vscode e Google Coolab</a:t>
            </a:r>
          </a:p>
          <a:p>
            <a:b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36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166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pic>
        <p:nvPicPr>
          <p:cNvPr id="6" name="Imagem 5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4F7A1BA2-BF80-7F0D-4C9C-E9732AAF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83" y="0"/>
            <a:ext cx="8729817" cy="539803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60D4ADB-A8B1-D581-BB49-60700E83C68D}"/>
              </a:ext>
            </a:extLst>
          </p:cNvPr>
          <p:cNvSpPr txBox="1"/>
          <p:nvPr/>
        </p:nvSpPr>
        <p:spPr>
          <a:xfrm>
            <a:off x="304800" y="5398036"/>
            <a:ext cx="1219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gráfico mostra como os valores de óbitos se distribuem ao longo do conjunto de dados, indicando em quais faixas há maior concentração de ocorrências e revelando padrões como picos de frequência e variações na dispersão.</a:t>
            </a:r>
          </a:p>
        </p:txBody>
      </p:sp>
    </p:spTree>
    <p:extLst>
      <p:ext uri="{BB962C8B-B14F-4D97-AF65-F5344CB8AC3E}">
        <p14:creationId xmlns:p14="http://schemas.microsoft.com/office/powerpoint/2010/main" val="152096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pic>
        <p:nvPicPr>
          <p:cNvPr id="3" name="Imagem 2" descr="Gráfico, Gráfico de dispersão">
            <a:extLst>
              <a:ext uri="{FF2B5EF4-FFF2-40B4-BE49-F238E27FC236}">
                <a16:creationId xmlns:a16="http://schemas.microsoft.com/office/drawing/2014/main" id="{8AE7E069-74FC-C0D3-4F32-C36AB4979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297" y="0"/>
            <a:ext cx="9317754" cy="521209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376D1A4-0788-7B3F-C1EB-4F8449E816B2}"/>
              </a:ext>
            </a:extLst>
          </p:cNvPr>
          <p:cNvSpPr txBox="1"/>
          <p:nvPr/>
        </p:nvSpPr>
        <p:spPr>
          <a:xfrm>
            <a:off x="0" y="533648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pt-BR" sz="24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variável independente, plotada no eixo X, é o ANO.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pt-BR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escolhi como o fator explicativo para tentar entender o comportamento dos óbitos ao longo do tempo.</a:t>
            </a:r>
          </a:p>
          <a:p>
            <a:pPr algn="l">
              <a:buFont typeface="+mj-lt"/>
              <a:buAutoNum type="arabicPeriod"/>
            </a:pPr>
            <a:r>
              <a:rPr lang="pt-BR" sz="24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variável dependente, plotada no eixo Y, é o NÚMERO DE ÓBITOS.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Esta é a variável resposta que estou tentando prever ou explicar através da passagem dos anos.</a:t>
            </a:r>
          </a:p>
        </p:txBody>
      </p:sp>
    </p:spTree>
    <p:extLst>
      <p:ext uri="{BB962C8B-B14F-4D97-AF65-F5344CB8AC3E}">
        <p14:creationId xmlns:p14="http://schemas.microsoft.com/office/powerpoint/2010/main" val="338421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pic>
        <p:nvPicPr>
          <p:cNvPr id="3" name="Imagem 2" descr="Gráfico, Gráfico de linhas">
            <a:extLst>
              <a:ext uri="{FF2B5EF4-FFF2-40B4-BE49-F238E27FC236}">
                <a16:creationId xmlns:a16="http://schemas.microsoft.com/office/drawing/2014/main" id="{1E48C3C8-C4BE-D4AF-5A85-BD0E5397D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36" y="0"/>
            <a:ext cx="8563896" cy="552114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C42FBF1-9835-EA62-6E14-559663C1D847}"/>
              </a:ext>
            </a:extLst>
          </p:cNvPr>
          <p:cNvSpPr txBox="1"/>
          <p:nvPr/>
        </p:nvSpPr>
        <p:spPr>
          <a:xfrm>
            <a:off x="117987" y="5521146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Portanto, </a:t>
            </a:r>
            <a:r>
              <a:rPr lang="pt-BR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gráfico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nos mostra uma história em três atos: uma fase inicial de estabilidade, um ponto de inflexão a partir de 2005 e, finalmente, um período de crescimento acelerado até 2020.</a:t>
            </a:r>
            <a:endParaRPr lang="pt-BR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89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0F1B4D-6D65-4A04-6FD6-EE1FADA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9638B279-DE77-81F5-9299-470E3A2BA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pic>
        <p:nvPicPr>
          <p:cNvPr id="3" name="Imagem 2" descr="Uma imagem contendo Gráfico de barras&#10;&#10;O conteúdo gerado por IA pode estar incorreto.">
            <a:extLst>
              <a:ext uri="{FF2B5EF4-FFF2-40B4-BE49-F238E27FC236}">
                <a16:creationId xmlns:a16="http://schemas.microsoft.com/office/drawing/2014/main" id="{23E1C7C8-1EF4-E973-022A-97A3EBDB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91" y="0"/>
            <a:ext cx="8816017" cy="560914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72A68A1-BDCC-60E0-589A-0F42E8F1D42F}"/>
              </a:ext>
            </a:extLst>
          </p:cNvPr>
          <p:cNvSpPr txBox="1"/>
          <p:nvPr/>
        </p:nvSpPr>
        <p:spPr>
          <a:xfrm>
            <a:off x="0" y="5596116"/>
            <a:ext cx="1219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pt-BR" sz="24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pt-BR" sz="2400" b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</a:t>
            </a:r>
            <a:r>
              <a:rPr lang="pt-BR" sz="24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revela que os óbitos possuem uma distribuição estável, com mediana de 800 e 50% dos valores concentrados entre 700 e 900, sem presença de valores extremos.</a:t>
            </a:r>
          </a:p>
          <a:p>
            <a:br>
              <a:rPr lang="pt-BR" dirty="0">
                <a:solidFill>
                  <a:srgbClr val="ADB2B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779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250794" y="136525"/>
            <a:ext cx="10730139" cy="9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4400"/>
              <a:buFont typeface="Calibri"/>
              <a:buNone/>
            </a:pPr>
            <a:r>
              <a:rPr lang="pt-BR" dirty="0"/>
              <a:t>Conclusão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8" name="Google Shape;108;p2">
            <a:extLst>
              <a:ext uri="{FF2B5EF4-FFF2-40B4-BE49-F238E27FC236}">
                <a16:creationId xmlns:a16="http://schemas.microsoft.com/office/drawing/2014/main" id="{9290040D-DCB0-42D2-8D2E-EA50225ACBF1}"/>
              </a:ext>
            </a:extLst>
          </p:cNvPr>
          <p:cNvSpPr txBox="1"/>
          <p:nvPr/>
        </p:nvSpPr>
        <p:spPr>
          <a:xfrm>
            <a:off x="196645" y="1010286"/>
            <a:ext cx="11744561" cy="584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depois de toda a análise cheguei a conclusão de que nos primeiros anos os óbitos eram maiores, e ao decorrer do tempo os números foram amenizados, isso se dá por motivos de infraestrutura, como por exemplo as obras implantadas no ano de 2014, em que o Rio de Janeiro sediou um grande evento, a Copa do Mundo, e também em 2016 em que sediou as Olímpiadas, as obras para esses eventos influenciaram para os anos seguintes, e também ao passar dos anos com as construções de ciclovias e aprimoramento das leis de trânsito, os acidentes foram diminuindo, consequentemente os óbitos também.</a:t>
            </a:r>
            <a:endParaRPr lang="pt-BR" sz="3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392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218</TotalTime>
  <Words>471</Words>
  <Application>Microsoft Office PowerPoint</Application>
  <PresentationFormat>Widescreen</PresentationFormat>
  <Paragraphs>32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do Office</vt:lpstr>
      <vt:lpstr>  &lt;Análise de Dados em Big Data sobre a Taxa de Mortalidade no Trânsito no Munícipio do Rio de Janeiro entre 2000 – 2022&gt;</vt:lpstr>
      <vt:lpstr>Objetivo Geral</vt:lpstr>
      <vt:lpstr>Base de Dados Usada</vt:lpstr>
      <vt:lpstr>Tecnologia Usadas no desenvolvimento</vt:lpstr>
      <vt:lpstr>Apresentação do PowerPoint</vt:lpstr>
      <vt:lpstr>Apresentação do PowerPoint</vt:lpstr>
      <vt:lpstr>Apresentação do PowerPoint</vt:lpstr>
      <vt:lpstr>Apresentação do PowerPoint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&lt;Nome do Sistema&gt;</dc:title>
  <dc:creator>simone gama</dc:creator>
  <cp:lastModifiedBy>Hiago Gonçalves</cp:lastModifiedBy>
  <cp:revision>11</cp:revision>
  <dcterms:created xsi:type="dcterms:W3CDTF">2020-01-31T14:11:17Z</dcterms:created>
  <dcterms:modified xsi:type="dcterms:W3CDTF">2025-11-28T05:11:06Z</dcterms:modified>
</cp:coreProperties>
</file>